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定位：不是 AI 工程師，而是把 15 年貿易實務變成可驗證 AI 系統的人。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一句話：判斷留給人，重複與驗證交給系統。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三根柱子對應三種能力：懂業務、會建系統、敢標狀態。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數字帶注釋，不裸奔：每項都有出處與驗證方法。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每步都有產出物：定義文件、分工圖、驗證報告、審核紀錄、複查日誌。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狀態紀律：TESTED = 可重跑驗證通過；PENDING = 合成資料先行，adoption-ROI 尚未實證。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Pauls OS = 方法論 + 工具箱 + 證據庫，三者共用同一套語言。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全 deck 的唯一原則頁：證據紀律的壓縮表達。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CTA：指定一條最痛的工作流，四週內交付可驗證的 Pilot。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57276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EXECUTIVE CAPABILITY · AI-ACCELERATED TRADE OPERATIONS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04672" y="2029968"/>
            <a:ext cx="104241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懂貿易的人，把 AI 變成可驗證的系統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868680" y="3767328"/>
            <a:ext cx="1371600" cy="4572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4041648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7D2E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15 年國際貿易總監 × 證據驅動的 AI 工作流｜Human-led, AI-accelerated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6016752"/>
            <a:ext cx="109728" cy="109728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8" name="Text 6"/>
          <p:cNvSpPr/>
          <p:nvPr/>
        </p:nvSpPr>
        <p:spPr>
          <a:xfrm>
            <a:off x="1042416" y="5943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7D2E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Paul Chen　2026-08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50" kern="0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THESIS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76072" y="676656"/>
            <a:ext cx="110642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2200" b="1" dirty="0">
                <a:solidFill>
                  <a:srgbClr val="0B1B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不取代商業判斷，而是放大判斷，並用證據收斂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94360" y="1764792"/>
            <a:ext cx="566928" cy="41148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5" name="Shape 3"/>
          <p:cNvSpPr/>
          <p:nvPr/>
        </p:nvSpPr>
        <p:spPr>
          <a:xfrm>
            <a:off x="594360" y="1787652"/>
            <a:ext cx="11000232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214884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7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每一項宣稱都有驗證狀態：VERIFIED / TESTED / PENDING / NOT YET PROVEN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94360" y="2679192"/>
            <a:ext cx="10881360" cy="3584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25000"/>
              </a:lnSpc>
              <a:spcAft>
                <a:spcPts val="1400"/>
              </a:spcAft>
              <a:buSzPct val="100000"/>
              <a:buChar char="▪"/>
            </a:pPr>
            <a:r>
              <a:rPr lang="en-US" sz="1400" dirty="0">
                <a:solidFill>
                  <a:srgbClr val="3B475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商業經驗是語境：報價、匯率、交期、客戶關係——15 年總監級實務</a:t>
            </a:r>
            <a:endParaRPr lang="en-US" sz="1400" dirty="0"/>
          </a:p>
          <a:p>
            <a:pPr marL="177800" indent="-177800">
              <a:lnSpc>
                <a:spcPct val="125000"/>
              </a:lnSpc>
              <a:spcAft>
                <a:spcPts val="1400"/>
              </a:spcAft>
              <a:buSzPct val="100000"/>
              <a:buChar char="▪"/>
            </a:pPr>
            <a:r>
              <a:rPr lang="en-US" sz="1400" dirty="0">
                <a:solidFill>
                  <a:srgbClr val="3B475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是執行力：Agent 工作流把重複決策標準化，留下可重跑的軌跡</a:t>
            </a:r>
            <a:endParaRPr lang="en-US" sz="1400" dirty="0"/>
          </a:p>
          <a:p>
            <a:pPr marL="177800" indent="-177800">
              <a:lnSpc>
                <a:spcPct val="125000"/>
              </a:lnSpc>
              <a:spcAft>
                <a:spcPts val="1400"/>
              </a:spcAft>
              <a:buSzPct val="100000"/>
              <a:buChar char="▪"/>
            </a:pPr>
            <a:r>
              <a:rPr lang="en-US" sz="1400" dirty="0">
                <a:solidFill>
                  <a:srgbClr val="3B475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證據是邊界：模擬先行、UNKNOWN 不轉事實、宣稱皆可核對</a:t>
            </a:r>
            <a:endParaRPr lang="en-US" sz="1400" dirty="0"/>
          </a:p>
          <a:p>
            <a:pPr marL="177800" indent="-177800">
              <a:lnSpc>
                <a:spcPct val="125000"/>
              </a:lnSpc>
              <a:spcAft>
                <a:spcPts val="1400"/>
              </a:spcAft>
              <a:buSzPct val="100000"/>
              <a:buChar char="▪"/>
            </a:pPr>
            <a:r>
              <a:rPr lang="en-US" sz="1400" dirty="0">
                <a:solidFill>
                  <a:srgbClr val="3B475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結果：把「老師傅的判斷」變成「可複製、可稽核、可擴展的系統」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94360" y="6455664"/>
            <a:ext cx="11000232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9" name="Shape 7"/>
          <p:cNvSpPr/>
          <p:nvPr/>
        </p:nvSpPr>
        <p:spPr>
          <a:xfrm>
            <a:off x="594360" y="6574536"/>
            <a:ext cx="91440" cy="9144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10" name="Text 8"/>
          <p:cNvSpPr/>
          <p:nvPr/>
        </p:nvSpPr>
        <p:spPr>
          <a:xfrm>
            <a:off x="758952" y="6519672"/>
            <a:ext cx="8686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8A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PAUL'S TRADECRAFT · EXECUTIVE CAPABILITY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0927080" y="6483096"/>
            <a:ext cx="6675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94360" y="6455664"/>
            <a:ext cx="11000232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3" name="Shape 11"/>
          <p:cNvSpPr/>
          <p:nvPr/>
        </p:nvSpPr>
        <p:spPr>
          <a:xfrm>
            <a:off x="594360" y="6574536"/>
            <a:ext cx="91440" cy="9144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14" name="Text 12"/>
          <p:cNvSpPr/>
          <p:nvPr/>
        </p:nvSpPr>
        <p:spPr>
          <a:xfrm>
            <a:off x="758952" y="6519672"/>
            <a:ext cx="8686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8A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PAUL'S TRADECRAFT · EXECUTIVE CAPABILITY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0927080" y="6483096"/>
            <a:ext cx="6675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50" kern="0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PAUL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76072" y="676656"/>
            <a:ext cx="110642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2200" b="1" dirty="0">
                <a:solidFill>
                  <a:srgbClr val="0B1B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三根柱子：商業經驗 × AI 執行 × 證據紀律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94360" y="1764792"/>
            <a:ext cx="566928" cy="41148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5" name="Shape 3"/>
          <p:cNvSpPr/>
          <p:nvPr/>
        </p:nvSpPr>
        <p:spPr>
          <a:xfrm>
            <a:off x="594360" y="1787652"/>
            <a:ext cx="11000232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Shape 4"/>
          <p:cNvSpPr/>
          <p:nvPr/>
        </p:nvSpPr>
        <p:spPr>
          <a:xfrm>
            <a:off x="594360" y="3360420"/>
            <a:ext cx="3508248" cy="173736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7" name="Shape 5"/>
          <p:cNvSpPr/>
          <p:nvPr/>
        </p:nvSpPr>
        <p:spPr>
          <a:xfrm>
            <a:off x="594360" y="3360420"/>
            <a:ext cx="64008" cy="173736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8" name="Text 6"/>
          <p:cNvSpPr/>
          <p:nvPr/>
        </p:nvSpPr>
        <p:spPr>
          <a:xfrm>
            <a:off x="886968" y="3616452"/>
            <a:ext cx="2941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B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商業經驗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886968" y="4046220"/>
            <a:ext cx="29413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B7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15 年國際貿易總監，主管報價、匯率避險與交期管理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40352" y="3360420"/>
            <a:ext cx="3508248" cy="173736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11" name="Shape 9"/>
          <p:cNvSpPr/>
          <p:nvPr/>
        </p:nvSpPr>
        <p:spPr>
          <a:xfrm>
            <a:off x="4340352" y="3360420"/>
            <a:ext cx="64008" cy="173736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12" name="Text 10"/>
          <p:cNvSpPr/>
          <p:nvPr/>
        </p:nvSpPr>
        <p:spPr>
          <a:xfrm>
            <a:off x="4632960" y="3616452"/>
            <a:ext cx="2941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B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執行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632960" y="4046220"/>
            <a:ext cx="29413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B7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從流程設計到 Agent 分工，把標準作業變成自動化系統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086344" y="3360420"/>
            <a:ext cx="3508248" cy="173736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15" name="Shape 13"/>
          <p:cNvSpPr/>
          <p:nvPr/>
        </p:nvSpPr>
        <p:spPr>
          <a:xfrm>
            <a:off x="8086344" y="3360420"/>
            <a:ext cx="64008" cy="173736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16" name="Text 14"/>
          <p:cNvSpPr/>
          <p:nvPr/>
        </p:nvSpPr>
        <p:spPr>
          <a:xfrm>
            <a:off x="8378952" y="3616452"/>
            <a:ext cx="2941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B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證據紀律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8378952" y="4046220"/>
            <a:ext cx="29413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B7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模擬與實證分開陳述，狀態標籤逐項核對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94360" y="6455664"/>
            <a:ext cx="11000232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9" name="Shape 17"/>
          <p:cNvSpPr/>
          <p:nvPr/>
        </p:nvSpPr>
        <p:spPr>
          <a:xfrm>
            <a:off x="594360" y="6574536"/>
            <a:ext cx="91440" cy="9144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20" name="Text 18"/>
          <p:cNvSpPr/>
          <p:nvPr/>
        </p:nvSpPr>
        <p:spPr>
          <a:xfrm>
            <a:off x="758952" y="6519672"/>
            <a:ext cx="8686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8A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PAUL'S TRADECRAFT · EXECUTIVE CAPABILITY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0927080" y="6483096"/>
            <a:ext cx="6675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94360" y="6455664"/>
            <a:ext cx="11000232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3" name="Shape 21"/>
          <p:cNvSpPr/>
          <p:nvPr/>
        </p:nvSpPr>
        <p:spPr>
          <a:xfrm>
            <a:off x="594360" y="6574536"/>
            <a:ext cx="91440" cy="9144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24" name="Text 22"/>
          <p:cNvSpPr/>
          <p:nvPr/>
        </p:nvSpPr>
        <p:spPr>
          <a:xfrm>
            <a:off x="758952" y="6519672"/>
            <a:ext cx="8686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8A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PAUL'S TRADECRAFT · EXECUTIVE CAPABILITY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0927080" y="6483096"/>
            <a:ext cx="6675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50" kern="0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EVIDENCE BAND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76072" y="676656"/>
            <a:ext cx="110642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2200" b="1" dirty="0">
                <a:solidFill>
                  <a:srgbClr val="0B1B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可核對的數字，不是口號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94360" y="1764792"/>
            <a:ext cx="566928" cy="41148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5" name="Shape 3"/>
          <p:cNvSpPr/>
          <p:nvPr/>
        </p:nvSpPr>
        <p:spPr>
          <a:xfrm>
            <a:off x="594360" y="1787652"/>
            <a:ext cx="11000232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2148840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驗證基準：可重跑的模擬、可審視的軌跡、可複製的流程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94360" y="3177540"/>
            <a:ext cx="45720" cy="246888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3451860"/>
            <a:ext cx="2009394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rgbClr val="0B1B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955</a:t>
            </a:r>
            <a:endParaRPr lang="en-US" sz="4200" dirty="0"/>
          </a:p>
        </p:txBody>
      </p:sp>
      <p:sp>
        <p:nvSpPr>
          <p:cNvPr id="9" name="Shape 7"/>
          <p:cNvSpPr/>
          <p:nvPr/>
        </p:nvSpPr>
        <p:spPr>
          <a:xfrm>
            <a:off x="914400" y="4594860"/>
            <a:ext cx="2009394" cy="1280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4732020"/>
            <a:ext cx="2009394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B7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TOEIC 聽讀（2019 測驗）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408426" y="3177540"/>
            <a:ext cx="45720" cy="246888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12" name="Text 10"/>
          <p:cNvSpPr/>
          <p:nvPr/>
        </p:nvSpPr>
        <p:spPr>
          <a:xfrm>
            <a:off x="3728466" y="3451860"/>
            <a:ext cx="2009394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rgbClr val="0B1B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15 年</a:t>
            </a:r>
            <a:endParaRPr lang="en-US" sz="4200" dirty="0"/>
          </a:p>
        </p:txBody>
      </p:sp>
      <p:sp>
        <p:nvSpPr>
          <p:cNvPr id="13" name="Shape 11"/>
          <p:cNvSpPr/>
          <p:nvPr/>
        </p:nvSpPr>
        <p:spPr>
          <a:xfrm>
            <a:off x="3728466" y="4594860"/>
            <a:ext cx="2009394" cy="1280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4" name="Text 12"/>
          <p:cNvSpPr/>
          <p:nvPr/>
        </p:nvSpPr>
        <p:spPr>
          <a:xfrm>
            <a:off x="3728466" y="4732020"/>
            <a:ext cx="2009394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B7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國際貿易總監經驗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222492" y="3177540"/>
            <a:ext cx="45720" cy="246888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16" name="Text 14"/>
          <p:cNvSpPr/>
          <p:nvPr/>
        </p:nvSpPr>
        <p:spPr>
          <a:xfrm>
            <a:off x="6542532" y="3451860"/>
            <a:ext cx="2009394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rgbClr val="0B1B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23/23</a:t>
            </a:r>
            <a:endParaRPr lang="en-US" sz="4200" dirty="0"/>
          </a:p>
        </p:txBody>
      </p:sp>
      <p:sp>
        <p:nvSpPr>
          <p:cNvPr id="17" name="Shape 15"/>
          <p:cNvSpPr/>
          <p:nvPr/>
        </p:nvSpPr>
        <p:spPr>
          <a:xfrm>
            <a:off x="6542532" y="4594860"/>
            <a:ext cx="2009394" cy="1280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8" name="Text 16"/>
          <p:cNvSpPr/>
          <p:nvPr/>
        </p:nvSpPr>
        <p:spPr>
          <a:xfrm>
            <a:off x="6542532" y="4732020"/>
            <a:ext cx="2009394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B7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Pilot 流程驗證項目通過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9036558" y="3177540"/>
            <a:ext cx="45720" cy="246888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20" name="Text 18"/>
          <p:cNvSpPr/>
          <p:nvPr/>
        </p:nvSpPr>
        <p:spPr>
          <a:xfrm>
            <a:off x="9356598" y="3451860"/>
            <a:ext cx="2009394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rgbClr val="0B1B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51/51</a:t>
            </a:r>
            <a:endParaRPr lang="en-US" sz="4200" dirty="0"/>
          </a:p>
        </p:txBody>
      </p:sp>
      <p:sp>
        <p:nvSpPr>
          <p:cNvPr id="21" name="Shape 19"/>
          <p:cNvSpPr/>
          <p:nvPr/>
        </p:nvSpPr>
        <p:spPr>
          <a:xfrm>
            <a:off x="9356598" y="4594860"/>
            <a:ext cx="2009394" cy="1280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2" name="Text 20"/>
          <p:cNvSpPr/>
          <p:nvPr/>
        </p:nvSpPr>
        <p:spPr>
          <a:xfrm>
            <a:off x="9356598" y="4732020"/>
            <a:ext cx="2009394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B7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付款條件驗證案例通過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94360" y="6455664"/>
            <a:ext cx="11000232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4" name="Shape 22"/>
          <p:cNvSpPr/>
          <p:nvPr/>
        </p:nvSpPr>
        <p:spPr>
          <a:xfrm>
            <a:off x="594360" y="6574536"/>
            <a:ext cx="91440" cy="9144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25" name="Text 23"/>
          <p:cNvSpPr/>
          <p:nvPr/>
        </p:nvSpPr>
        <p:spPr>
          <a:xfrm>
            <a:off x="758952" y="6519672"/>
            <a:ext cx="8686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8A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PAUL'S TRADECRAFT · EXECUTIVE CAPABILITY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0927080" y="6483096"/>
            <a:ext cx="6675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94360" y="6455664"/>
            <a:ext cx="11000232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8" name="Shape 26"/>
          <p:cNvSpPr/>
          <p:nvPr/>
        </p:nvSpPr>
        <p:spPr>
          <a:xfrm>
            <a:off x="594360" y="6574536"/>
            <a:ext cx="91440" cy="9144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29" name="Text 27"/>
          <p:cNvSpPr/>
          <p:nvPr/>
        </p:nvSpPr>
        <p:spPr>
          <a:xfrm>
            <a:off x="758952" y="6519672"/>
            <a:ext cx="8686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8A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PAUL'S TRADECRAFT · EXECUTIVE CAPABILITY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10927080" y="6483096"/>
            <a:ext cx="6675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50" kern="0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PAUL WORKS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76072" y="676656"/>
            <a:ext cx="110642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2200" b="1" dirty="0">
                <a:solidFill>
                  <a:srgbClr val="0B1B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人類定界，AI 分工，交叉驗證，人類審核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94360" y="1764792"/>
            <a:ext cx="566928" cy="41148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5" name="Shape 3"/>
          <p:cNvSpPr/>
          <p:nvPr/>
        </p:nvSpPr>
        <p:spPr>
          <a:xfrm>
            <a:off x="594360" y="1787652"/>
            <a:ext cx="11000232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214884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五步流程：把「老師傅的判斷」變成「可稽核的系統」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2715768"/>
            <a:ext cx="6858000" cy="3547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25000"/>
              </a:lnSpc>
              <a:spcAft>
                <a:spcPts val="1500"/>
              </a:spcAft>
              <a:buSzPct val="100000"/>
              <a:buChar char="▪"/>
            </a:pPr>
            <a:r>
              <a:rPr lang="en-US" sz="1400" dirty="0">
                <a:solidFill>
                  <a:srgbClr val="3B475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人類定界：定義目標、輸入與決策邊界</a:t>
            </a:r>
            <a:endParaRPr lang="en-US" sz="1400" dirty="0"/>
          </a:p>
          <a:p>
            <a:pPr marL="177800" indent="-177800">
              <a:lnSpc>
                <a:spcPct val="125000"/>
              </a:lnSpc>
              <a:spcAft>
                <a:spcPts val="1500"/>
              </a:spcAft>
              <a:buSzPct val="100000"/>
              <a:buChar char="▪"/>
            </a:pPr>
            <a:r>
              <a:rPr lang="en-US" sz="1400" dirty="0">
                <a:solidFill>
                  <a:srgbClr val="3B475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AI 分工：拆解工作流，Agent 各司其職</a:t>
            </a:r>
            <a:endParaRPr lang="en-US" sz="1400" dirty="0"/>
          </a:p>
          <a:p>
            <a:pPr marL="177800" indent="-177800">
              <a:lnSpc>
                <a:spcPct val="125000"/>
              </a:lnSpc>
              <a:spcAft>
                <a:spcPts val="1500"/>
              </a:spcAft>
              <a:buSzPct val="100000"/>
              <a:buChar char="▪"/>
            </a:pPr>
            <a:r>
              <a:rPr lang="en-US" sz="1400" dirty="0">
                <a:solidFill>
                  <a:srgbClr val="3B475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交叉驗證：獨立 Agent 互查，拒絕自我背書</a:t>
            </a:r>
            <a:endParaRPr lang="en-US" sz="1400" dirty="0"/>
          </a:p>
          <a:p>
            <a:pPr marL="177800" indent="-177800">
              <a:lnSpc>
                <a:spcPct val="125000"/>
              </a:lnSpc>
              <a:spcAft>
                <a:spcPts val="1500"/>
              </a:spcAft>
              <a:buSzPct val="100000"/>
              <a:buChar char="▪"/>
            </a:pPr>
            <a:r>
              <a:rPr lang="en-US" sz="1400" dirty="0">
                <a:solidFill>
                  <a:srgbClr val="3B475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④ 人類審核：關鍵決策保留人類最後一關</a:t>
            </a:r>
            <a:endParaRPr lang="en-US" sz="1400" dirty="0"/>
          </a:p>
          <a:p>
            <a:pPr marL="177800" indent="-177800">
              <a:lnSpc>
                <a:spcPct val="125000"/>
              </a:lnSpc>
              <a:spcAft>
                <a:spcPts val="1500"/>
              </a:spcAft>
              <a:buSzPct val="100000"/>
              <a:buChar char="▪"/>
            </a:pPr>
            <a:r>
              <a:rPr lang="en-US" sz="1400" dirty="0">
                <a:solidFill>
                  <a:srgbClr val="3B475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⑤ 部署與複查：上線後獨立複查，留下軌跡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863840" y="2148840"/>
            <a:ext cx="3730752" cy="3840480"/>
          </a:xfrm>
          <a:prstGeom prst="rect">
            <a:avLst/>
          </a:prstGeom>
          <a:solidFill>
            <a:srgbClr val="0B1B33"/>
          </a:solidFill>
          <a:ln/>
        </p:spPr>
      </p:sp>
      <p:sp>
        <p:nvSpPr>
          <p:cNvPr id="9" name="Shape 7"/>
          <p:cNvSpPr/>
          <p:nvPr/>
        </p:nvSpPr>
        <p:spPr>
          <a:xfrm>
            <a:off x="7863840" y="2148840"/>
            <a:ext cx="3730752" cy="64008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0" y="2606040"/>
            <a:ext cx="29992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OPERATING PRINCIPLE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229600" y="2990088"/>
            <a:ext cx="2999232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更多 Agent ≠ 更多工作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229600" y="4023360"/>
            <a:ext cx="2999232" cy="10973"/>
          </a:xfrm>
          <a:prstGeom prst="rect">
            <a:avLst/>
          </a:prstGeom>
          <a:solidFill>
            <a:srgbClr val="24405F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0" y="4206240"/>
            <a:ext cx="2999232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7D2E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獨立 Agent 互相挑戰、驗證、收斂。擴展的是系統的可稽核性，不是雜訊。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94360" y="6455664"/>
            <a:ext cx="11000232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5" name="Shape 13"/>
          <p:cNvSpPr/>
          <p:nvPr/>
        </p:nvSpPr>
        <p:spPr>
          <a:xfrm>
            <a:off x="594360" y="6574536"/>
            <a:ext cx="91440" cy="9144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16" name="Text 14"/>
          <p:cNvSpPr/>
          <p:nvPr/>
        </p:nvSpPr>
        <p:spPr>
          <a:xfrm>
            <a:off x="758952" y="6519672"/>
            <a:ext cx="8686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8A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PAUL'S TRADECRAFT · EXECUTIVE CAPABILITY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0927080" y="6483096"/>
            <a:ext cx="6675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94360" y="6455664"/>
            <a:ext cx="11000232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9" name="Shape 17"/>
          <p:cNvSpPr/>
          <p:nvPr/>
        </p:nvSpPr>
        <p:spPr>
          <a:xfrm>
            <a:off x="594360" y="6574536"/>
            <a:ext cx="91440" cy="9144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20" name="Text 18"/>
          <p:cNvSpPr/>
          <p:nvPr/>
        </p:nvSpPr>
        <p:spPr>
          <a:xfrm>
            <a:off x="758952" y="6519672"/>
            <a:ext cx="8686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8A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PAUL'S TRADECRAFT · EXECUTIVE CAPABILITY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0927080" y="6483096"/>
            <a:ext cx="6675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50" kern="0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SELECTED EVIDENCE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76072" y="676656"/>
            <a:ext cx="110642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2200" b="1" dirty="0">
                <a:solidFill>
                  <a:srgbClr val="0B1B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三個案例：從問題到系統，再到可核對的證據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94360" y="1764792"/>
            <a:ext cx="566928" cy="41148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5" name="Shape 3"/>
          <p:cNvSpPr/>
          <p:nvPr/>
        </p:nvSpPr>
        <p:spPr>
          <a:xfrm>
            <a:off x="594360" y="1787652"/>
            <a:ext cx="11000232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Text 4"/>
          <p:cNvSpPr/>
          <p:nvPr/>
        </p:nvSpPr>
        <p:spPr>
          <a:xfrm>
            <a:off x="704088" y="2148840"/>
            <a:ext cx="253060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CASE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454146" y="2148840"/>
            <a:ext cx="253060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CORE MECHANISM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6204204" y="2148840"/>
            <a:ext cx="253060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EVIDENCE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8954262" y="2148840"/>
            <a:ext cx="253060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STATUS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94360" y="2532888"/>
            <a:ext cx="11000232" cy="14630"/>
          </a:xfrm>
          <a:prstGeom prst="rect">
            <a:avLst/>
          </a:prstGeom>
          <a:solidFill>
            <a:srgbClr val="0B1B33"/>
          </a:solidFill>
          <a:ln/>
        </p:spPr>
      </p:sp>
      <p:sp>
        <p:nvSpPr>
          <p:cNvPr id="11" name="Text 9"/>
          <p:cNvSpPr/>
          <p:nvPr/>
        </p:nvSpPr>
        <p:spPr>
          <a:xfrm>
            <a:off x="704088" y="2697480"/>
            <a:ext cx="253060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0B1B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Trade Deal Desk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454146" y="2697480"/>
            <a:ext cx="253060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0B1B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報價與匯率決策工作流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204204" y="2697480"/>
            <a:ext cx="253060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0B1B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13/13 情境 + 5/5 邊界驗證通過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954262" y="2697480"/>
            <a:ext cx="253060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TESTED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94360" y="3319272"/>
            <a:ext cx="11000232" cy="731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6" name="Text 14"/>
          <p:cNvSpPr/>
          <p:nvPr/>
        </p:nvSpPr>
        <p:spPr>
          <a:xfrm>
            <a:off x="704088" y="3355848"/>
            <a:ext cx="253060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0B1B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Payment Advisor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454146" y="3355848"/>
            <a:ext cx="253060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0B1B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信用狀與付款條件決策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204204" y="3355848"/>
            <a:ext cx="253060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0B1B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51/51 驗證案例通過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954262" y="3355848"/>
            <a:ext cx="253060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TESTED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94360" y="3977640"/>
            <a:ext cx="11000232" cy="731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1" name="Text 19"/>
          <p:cNvSpPr/>
          <p:nvPr/>
        </p:nvSpPr>
        <p:spPr>
          <a:xfrm>
            <a:off x="704088" y="4014216"/>
            <a:ext cx="253060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0B1B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Commercial Decision Desk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454146" y="4014216"/>
            <a:ext cx="253060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0B1B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跨案決策看板 · 8 條硬規則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204204" y="4014216"/>
            <a:ext cx="253060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0B1B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38/38 合成案例（fixture）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954262" y="4014216"/>
            <a:ext cx="253060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PENDING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94360" y="6455664"/>
            <a:ext cx="11000232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6" name="Shape 24"/>
          <p:cNvSpPr/>
          <p:nvPr/>
        </p:nvSpPr>
        <p:spPr>
          <a:xfrm>
            <a:off x="594360" y="6574536"/>
            <a:ext cx="91440" cy="9144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27" name="Text 25"/>
          <p:cNvSpPr/>
          <p:nvPr/>
        </p:nvSpPr>
        <p:spPr>
          <a:xfrm>
            <a:off x="758952" y="6519672"/>
            <a:ext cx="8686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8A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PAUL'S TRADECRAFT · EXECUTIVE CAPABILITY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0927080" y="6483096"/>
            <a:ext cx="6675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94360" y="6455664"/>
            <a:ext cx="11000232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0" name="Shape 28"/>
          <p:cNvSpPr/>
          <p:nvPr/>
        </p:nvSpPr>
        <p:spPr>
          <a:xfrm>
            <a:off x="594360" y="6574536"/>
            <a:ext cx="91440" cy="9144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31" name="Text 29"/>
          <p:cNvSpPr/>
          <p:nvPr/>
        </p:nvSpPr>
        <p:spPr>
          <a:xfrm>
            <a:off x="758952" y="6519672"/>
            <a:ext cx="8686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8A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PAUL'S TRADECRAFT · EXECUTIVE CAPABILITY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10927080" y="6483096"/>
            <a:ext cx="6675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50" kern="0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PAUL OS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76072" y="676656"/>
            <a:ext cx="110642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2200" b="1" dirty="0">
                <a:solidFill>
                  <a:srgbClr val="0B1B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不是很多 AI，而是會互相挑戰、驗證、收斂的 AI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94360" y="1764792"/>
            <a:ext cx="566928" cy="41148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5" name="Shape 3"/>
          <p:cNvSpPr/>
          <p:nvPr/>
        </p:nvSpPr>
        <p:spPr>
          <a:xfrm>
            <a:off x="594360" y="1787652"/>
            <a:ext cx="11000232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214884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7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同一套工作流在不同專案間複製：成本遞減，稽核性遞增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94360" y="2679192"/>
            <a:ext cx="10881360" cy="3584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25000"/>
              </a:lnSpc>
              <a:spcAft>
                <a:spcPts val="1400"/>
              </a:spcAft>
              <a:buSzPct val="100000"/>
              <a:buChar char="▪"/>
            </a:pPr>
            <a:r>
              <a:rPr lang="en-US" sz="1400" dirty="0">
                <a:solidFill>
                  <a:srgbClr val="3B475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Orchestration：人類定界 → Agent 分工 → 交叉驗證 → 人類審核</a:t>
            </a:r>
            <a:endParaRPr lang="en-US" sz="1400" dirty="0"/>
          </a:p>
          <a:p>
            <a:pPr marL="177800" indent="-177800">
              <a:lnSpc>
                <a:spcPct val="125000"/>
              </a:lnSpc>
              <a:spcAft>
                <a:spcPts val="1400"/>
              </a:spcAft>
              <a:buSzPct val="100000"/>
              <a:buChar char="▪"/>
            </a:pPr>
            <a:r>
              <a:rPr lang="en-US" sz="1400" dirty="0">
                <a:solidFill>
                  <a:srgbClr val="3B475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Role separation：產生者與驗證者分離，拒絕自我背書</a:t>
            </a:r>
            <a:endParaRPr lang="en-US" sz="1400" dirty="0"/>
          </a:p>
          <a:p>
            <a:pPr marL="177800" indent="-177800">
              <a:lnSpc>
                <a:spcPct val="125000"/>
              </a:lnSpc>
              <a:spcAft>
                <a:spcPts val="1400"/>
              </a:spcAft>
              <a:buSzPct val="100000"/>
              <a:buChar char="▪"/>
            </a:pPr>
            <a:r>
              <a:rPr lang="en-US" sz="1400" dirty="0">
                <a:solidFill>
                  <a:srgbClr val="3B475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Reproducibility：模擬可重跑，證據可重算，宣稱可核對</a:t>
            </a:r>
            <a:endParaRPr lang="en-US" sz="1400" dirty="0"/>
          </a:p>
          <a:p>
            <a:pPr marL="177800" indent="-177800">
              <a:lnSpc>
                <a:spcPct val="125000"/>
              </a:lnSpc>
              <a:spcAft>
                <a:spcPts val="1400"/>
              </a:spcAft>
              <a:buSzPct val="100000"/>
              <a:buChar char="▪"/>
            </a:pPr>
            <a:r>
              <a:rPr lang="en-US" sz="1400" dirty="0">
                <a:solidFill>
                  <a:srgbClr val="3B475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Evidence trail：每項決策都有來源與狀態標籤</a:t>
            </a:r>
            <a:endParaRPr lang="en-US" sz="1400" dirty="0"/>
          </a:p>
          <a:p>
            <a:pPr marL="177800" indent="-177800">
              <a:lnSpc>
                <a:spcPct val="125000"/>
              </a:lnSpc>
              <a:spcAft>
                <a:spcPts val="1400"/>
              </a:spcAft>
              <a:buSzPct val="100000"/>
              <a:buChar char="▪"/>
            </a:pPr>
            <a:r>
              <a:rPr lang="en-US" sz="1400" dirty="0">
                <a:solidFill>
                  <a:srgbClr val="3B475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Restraint：只做有證據價值的工作，不為 AI 而 AI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94360" y="6455664"/>
            <a:ext cx="11000232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9" name="Shape 7"/>
          <p:cNvSpPr/>
          <p:nvPr/>
        </p:nvSpPr>
        <p:spPr>
          <a:xfrm>
            <a:off x="594360" y="6574536"/>
            <a:ext cx="91440" cy="9144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10" name="Text 8"/>
          <p:cNvSpPr/>
          <p:nvPr/>
        </p:nvSpPr>
        <p:spPr>
          <a:xfrm>
            <a:off x="758952" y="6519672"/>
            <a:ext cx="8686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8A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PAUL'S TRADECRAFT · EXECUTIVE CAPABILITY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0927080" y="6483096"/>
            <a:ext cx="6675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07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94360" y="6455664"/>
            <a:ext cx="11000232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3" name="Shape 11"/>
          <p:cNvSpPr/>
          <p:nvPr/>
        </p:nvSpPr>
        <p:spPr>
          <a:xfrm>
            <a:off x="594360" y="6574536"/>
            <a:ext cx="91440" cy="9144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14" name="Text 12"/>
          <p:cNvSpPr/>
          <p:nvPr/>
        </p:nvSpPr>
        <p:spPr>
          <a:xfrm>
            <a:off x="758952" y="6519672"/>
            <a:ext cx="8686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8A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PAUL'S TRADECRAFT · EXECUTIVE CAPABILITY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0927080" y="6483096"/>
            <a:ext cx="6675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4173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PRINCIPLE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804672" y="1920240"/>
            <a:ext cx="105156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不妄斷，不盲動。每一策，皆可追。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68680" y="4114800"/>
            <a:ext cx="1097280" cy="41148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44348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7D2E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Human-led, AI-accelerated：商業判斷留給人，重複與驗證交給系統。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22960" y="57607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7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PAUL'S TRADECRAFT · paulstradecraft.com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94360" y="6455664"/>
            <a:ext cx="11000232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9" name="Shape 7"/>
          <p:cNvSpPr/>
          <p:nvPr/>
        </p:nvSpPr>
        <p:spPr>
          <a:xfrm>
            <a:off x="594360" y="6574536"/>
            <a:ext cx="91440" cy="9144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10" name="Text 8"/>
          <p:cNvSpPr/>
          <p:nvPr/>
        </p:nvSpPr>
        <p:spPr>
          <a:xfrm>
            <a:off x="758952" y="6519672"/>
            <a:ext cx="8686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8A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PAUL'S TRADECRAFT · EXECUTIVE CAPABILITY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0927080" y="6483096"/>
            <a:ext cx="6675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463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CONTACT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804672" y="1965960"/>
            <a:ext cx="104241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從一個流程開始，把判斷變成系統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868680" y="3749040"/>
            <a:ext cx="1371600" cy="4572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402336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D2E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paulstradecraft.com · paulchen1978@gmail.com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" y="6016752"/>
            <a:ext cx="109728" cy="109728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8" name="Text 6"/>
          <p:cNvSpPr/>
          <p:nvPr/>
        </p:nvSpPr>
        <p:spPr>
          <a:xfrm>
            <a:off x="1042416" y="5943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7D2E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Paul Chen　2026-08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0789920" y="592531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spc="300" kern="0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Paul's Tradecraft · Executive Capability</dc:title>
  <dc:subject/>
  <dc:creator>Paul Chen</dc:creator>
  <cp:lastModifiedBy>Paul Chen</cp:lastModifiedBy>
  <cp:revision>1</cp:revision>
  <dcterms:created xsi:type="dcterms:W3CDTF">2026-08-23T14:44:00Z</dcterms:created>
  <dcterms:modified xsi:type="dcterms:W3CDTF">2026-08-23T14:44:00Z</dcterms:modified>
</cp:coreProperties>
</file>